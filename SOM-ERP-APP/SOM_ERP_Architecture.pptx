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4020"/>
          </a:solidFill>
          <a:ln w="12700">
            <a:solidFill>
              <a:srgbClr val="164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0"/>
            <a:ext cx="54864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4572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4572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572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4572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4572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23444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23444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23444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123444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3444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01168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01168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01168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01168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01168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78892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78892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78892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278892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78892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56616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356616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356616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356616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56616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3434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3434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43434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43434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343400"/>
            <a:ext cx="91440" cy="9144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377440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640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PHYTO PHARMA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1148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LTD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11480" y="25786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411480" y="3218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Architecture &amp; Workflow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11480" y="3931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 -&gt;  Planning  -&gt;  BOM Issuance  -&gt;  BMR Production  -&gt;  QC &amp; Dispatch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65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46520" y="749808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749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1316736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1316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46520" y="1883664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18836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Issuance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46520" y="2450592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24505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/ Digital Records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46520" y="3017520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COA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3584448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Ledger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46520" y="4151376"/>
            <a:ext cx="2286000" cy="402336"/>
          </a:xfrm>
          <a:prstGeom prst="rect">
            <a:avLst/>
          </a:prstGeom>
          <a:solidFill>
            <a:srgbClr val="1A5C2A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1513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A4A22"/>
          </a:solidFill>
          <a:ln w="12700">
            <a:solidFill>
              <a:srgbClr val="1A4A2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4A22"/>
          </a:solidFill>
          <a:ln w="12700">
            <a:solidFill>
              <a:srgbClr val="1A4A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PHYTO PHARMA ERP  —  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MASTERS  —  FOUNDATION LAYER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2880" y="649224"/>
            <a:ext cx="87782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Master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UOM, tracking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49578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9578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1018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41018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Codes, names, plant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97987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7987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9427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/ BOM DB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89427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per unit, role type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46397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46397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7837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Master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7837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section, plant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94806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4806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6246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6246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section, access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443216" y="667512"/>
            <a:ext cx="138988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3216" y="667512"/>
            <a:ext cx="365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34656" y="667512"/>
            <a:ext cx="12527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34656" y="905256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pack, specs, batch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6112" y="1161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2" name="Shape 30"/>
          <p:cNvSpPr/>
          <p:nvPr/>
        </p:nvSpPr>
        <p:spPr>
          <a:xfrm>
            <a:off x="2344522" y="1161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3792931" y="1161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5241341" y="1161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6689750" y="1161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6" name="Text 34"/>
          <p:cNvSpPr/>
          <p:nvPr/>
        </p:nvSpPr>
        <p:spPr>
          <a:xfrm>
            <a:off x="182880" y="13716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 —  LEFT TO RIGHT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9456" y="1609344"/>
            <a:ext cx="1536192" cy="21214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1572768"/>
            <a:ext cx="1536192" cy="212140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1572768"/>
            <a:ext cx="1536192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1645920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" y="16459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2215774"/>
            <a:ext cx="5486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2103120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 creation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2530328"/>
            <a:ext cx="5486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241767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auto-fill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844881"/>
            <a:ext cx="5486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2732227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items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3159435"/>
            <a:ext cx="5486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3046781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memory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3473988"/>
            <a:ext cx="54864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336133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55648" y="2596896"/>
            <a:ext cx="14630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10512" y="25328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&gt;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975104" y="1609344"/>
            <a:ext cx="1536192" cy="21214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38528" y="1572768"/>
            <a:ext cx="1536192" cy="2121408"/>
          </a:xfrm>
          <a:prstGeom prst="rect">
            <a:avLst/>
          </a:prstGeom>
          <a:solidFill>
            <a:srgbClr val="F5F3FF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38528" y="1572768"/>
            <a:ext cx="1536192" cy="47548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29968" y="1645920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2996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14016" y="16459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075688" y="2215774"/>
            <a:ext cx="5486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85416" y="2103120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engine run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75688" y="2530328"/>
            <a:ext cx="5486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85416" y="241767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stock check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075688" y="2844881"/>
            <a:ext cx="5486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85416" y="2732227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auto-created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075688" y="3159435"/>
            <a:ext cx="5486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85416" y="3046781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4-section dashboard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075688" y="3473988"/>
            <a:ext cx="54864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85416" y="336133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allocation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11296" y="2596896"/>
            <a:ext cx="14630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0" y="25328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&gt;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730752" y="1609344"/>
            <a:ext cx="1536192" cy="21214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4176" y="1572768"/>
            <a:ext cx="1536192" cy="2121408"/>
          </a:xfrm>
          <a:prstGeom prst="rect">
            <a:avLst/>
          </a:prstGeom>
          <a:solidFill>
            <a:srgbClr val="FFF7ED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4176" y="1572768"/>
            <a:ext cx="1536192" cy="4754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85616" y="1645920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85616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169664" y="16459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Issuance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831336" y="2215774"/>
            <a:ext cx="54864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41064" y="2103120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pack selection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831336" y="2530328"/>
            <a:ext cx="54864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41064" y="241767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/ manual mode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831336" y="2844881"/>
            <a:ext cx="54864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41064" y="2732227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bag issuance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831336" y="3159435"/>
            <a:ext cx="54864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41064" y="3046781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alerts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831336" y="3473988"/>
            <a:ext cx="54864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41064" y="336133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 Section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266944" y="2596896"/>
            <a:ext cx="14630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21808" y="25328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&gt;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86400" y="1609344"/>
            <a:ext cx="1536192" cy="21214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49824" y="1572768"/>
            <a:ext cx="1536192" cy="2121408"/>
          </a:xfrm>
          <a:prstGeom prst="rect">
            <a:avLst/>
          </a:prstGeom>
          <a:solidFill>
            <a:srgbClr val="ECFDF5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49824" y="1572768"/>
            <a:ext cx="1536192" cy="47548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41264" y="1645920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41264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925312" y="16459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Production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5586984" y="2215774"/>
            <a:ext cx="54864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96712" y="2103120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A: Environment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5586984" y="2530328"/>
            <a:ext cx="54864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96712" y="241767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B: Technical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586984" y="2844881"/>
            <a:ext cx="54864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96712" y="2732227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C: Formulation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586984" y="3159435"/>
            <a:ext cx="54864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96712" y="3046781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D: Packing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586984" y="3473988"/>
            <a:ext cx="54864" cy="54864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96712" y="336133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tracking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022592" y="2596896"/>
            <a:ext cx="14630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77456" y="25328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&gt;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242048" y="1609344"/>
            <a:ext cx="1536192" cy="21214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05472" y="1572768"/>
            <a:ext cx="1536192" cy="2121408"/>
          </a:xfrm>
          <a:prstGeom prst="rect">
            <a:avLst/>
          </a:prstGeom>
          <a:solidFill>
            <a:srgbClr val="FDF2F8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05472" y="1572768"/>
            <a:ext cx="1536192" cy="475488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296912" y="1645920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296912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7680960" y="16459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Dispatch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342632" y="2215774"/>
            <a:ext cx="54864" cy="54864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52360" y="2103120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 QC flow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342632" y="2530328"/>
            <a:ext cx="54864" cy="54864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52360" y="241767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parameters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7342632" y="2844881"/>
            <a:ext cx="54864" cy="54864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52360" y="2732227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approval loop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342632" y="3159435"/>
            <a:ext cx="54864" cy="54864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52360" y="3046781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 update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342632" y="3473988"/>
            <a:ext cx="54864" cy="54864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52360" y="3361334"/>
            <a:ext cx="12161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recorded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182880" y="37490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—  SERVES ALL MODULES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182880" y="3931920"/>
            <a:ext cx="2606040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82880" y="3931920"/>
            <a:ext cx="26060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7432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[IN]  Inward / GRN  -&gt;  Stock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274320" y="42336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Scan bags on receipt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274320" y="44348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Pack label generation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274320" y="4636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Pack Balance updated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274320" y="4837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Stock Ledger entry created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2907792" y="3931920"/>
            <a:ext cx="3145536" cy="1024128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07792" y="3931920"/>
            <a:ext cx="3145536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999232" y="393192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 Notifications  (All Modules)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2999232" y="423367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In-app notification bell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2999232" y="443484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Email: deviation, shortage, COA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2999232" y="463600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WhatsApp alerts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2999232" y="483717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5 PM: next day shift reminder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172200" y="3931920"/>
            <a:ext cx="2788920" cy="1024128"/>
          </a:xfrm>
          <a:prstGeom prst="rect">
            <a:avLst/>
          </a:prstGeom>
          <a:solidFill>
            <a:srgbClr val="F5F3FF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72200" y="3931920"/>
            <a:ext cx="2788920" cy="2743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263640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 Stock Ledger + SFG + Reports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6263640" y="42336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All transactions logged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6263640" y="4434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Real-time stock view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6263640" y="46360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SFG master updated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6263640" y="48371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Full audit trail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50976" y="3694176"/>
            <a:ext cx="0" cy="237744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ash"/>
          </a:ln>
        </p:spPr>
      </p:sp>
      <p:sp>
        <p:nvSpPr>
          <p:cNvPr id="148" name="Shape 146"/>
          <p:cNvSpPr/>
          <p:nvPr/>
        </p:nvSpPr>
        <p:spPr>
          <a:xfrm>
            <a:off x="2706624" y="3694176"/>
            <a:ext cx="0" cy="237744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ash"/>
          </a:ln>
        </p:spPr>
      </p:sp>
      <p:sp>
        <p:nvSpPr>
          <p:cNvPr id="149" name="Shape 147"/>
          <p:cNvSpPr/>
          <p:nvPr/>
        </p:nvSpPr>
        <p:spPr>
          <a:xfrm>
            <a:off x="4462272" y="3694176"/>
            <a:ext cx="0" cy="237744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ash"/>
          </a:ln>
        </p:spPr>
      </p:sp>
      <p:sp>
        <p:nvSpPr>
          <p:cNvPr id="150" name="Shape 148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A4A22"/>
          </a:solidFill>
          <a:ln w="12700">
            <a:solidFill>
              <a:srgbClr val="1A4A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4A22"/>
          </a:solidFill>
          <a:ln w="12700">
            <a:solidFill>
              <a:srgbClr val="1A4A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JOURNEY  —  FROM SALES ORDER TO DISPATCH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9144000" cy="1261872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2064"/>
            <a:ext cx="77724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512064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9384"/>
            <a:ext cx="9144000" cy="1261872"/>
          </a:xfrm>
          <a:prstGeom prst="rect">
            <a:avLst/>
          </a:prstGeom>
          <a:solidFill>
            <a:srgbClr val="FFF7ED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29384"/>
            <a:ext cx="777240" cy="1261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1929384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3191256"/>
            <a:ext cx="91440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346704"/>
            <a:ext cx="9144000" cy="12618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346704"/>
            <a:ext cx="777240" cy="12618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3346704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63093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667512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43584" y="667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Created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50976" y="987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No. entered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auto-filled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memory applied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+ batch details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688336" y="1143000"/>
            <a:ext cx="146304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106984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52928" y="63093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667512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55264" y="667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Engine Runs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62656" y="987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orders appear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stock check fired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Short / No Stock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auto-created on save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0016" y="1143000"/>
            <a:ext cx="146304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06984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&gt;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64608" y="63093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667512"/>
            <a:ext cx="274320" cy="27432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66944" y="667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Generated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74336" y="987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BOM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BOM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plan + DI No.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BOM Issuance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711696" y="1143000"/>
            <a:ext cx="146304" cy="3657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106984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</a:rPr>
              <a:t>&gt;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63093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667512"/>
            <a:ext cx="274320" cy="27432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667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78624" y="667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Alert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86016" y="987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RM short: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banner in planning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to procurement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decides to proceed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41248" y="204825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2084832"/>
            <a:ext cx="274320" cy="2743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43584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Issuance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50976" y="24048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opens BOM list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pack order shown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or manual mode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bag handled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88336" y="2560320"/>
            <a:ext cx="146304" cy="3657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24912" y="248716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&gt;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52928" y="204825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2084832"/>
            <a:ext cx="274320" cy="2743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55264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 Section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62656" y="24048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items ticked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"Issue to Section" clicked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recorded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 to Section Incharge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00016" y="2560320"/>
            <a:ext cx="146304" cy="3657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248716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&gt;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64608" y="204825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2084832"/>
            <a:ext cx="274320" cy="2743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66944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Acknowledges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74336" y="24048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Incharge sees notification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Acknowledge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loop closed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confirmed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41248" y="346557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3502152"/>
            <a:ext cx="274320" cy="27432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243584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Entry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50976" y="38221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A: Env + Cleaning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B: Technical/Microbes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C: Formulation + RM tick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logged + notified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688336" y="3977640"/>
            <a:ext cx="146304" cy="3657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24912" y="39044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4E3B"/>
                </a:solidFill>
              </a:rPr>
              <a:t>&gt;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852928" y="346557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26080" y="3502152"/>
            <a:ext cx="274320" cy="27432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2608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55264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 QC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962656" y="38221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Incharge fills composition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ID: WP260502-FRM-001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QC dashboard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verifies -&gt; notif back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0016" y="3977640"/>
            <a:ext cx="146304" cy="3657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39044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4E3B"/>
                </a:solidFill>
              </a:rPr>
              <a:t>&gt;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64608" y="346557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37760" y="3502152"/>
            <a:ext cx="274320" cy="274320"/>
          </a:xfrm>
          <a:prstGeom prst="ellipse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266944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BMR (Sec D)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974336" y="38221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D filled independently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packed qty, labels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SFG updated on completion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handover recorded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711696" y="3977640"/>
            <a:ext cx="146304" cy="36576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48272" y="39044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1843"/>
                </a:solidFill>
              </a:rPr>
              <a:t>&gt;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876288" y="3465576"/>
            <a:ext cx="1847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49440" y="3502152"/>
            <a:ext cx="274320" cy="274320"/>
          </a:xfrm>
          <a:prstGeom prst="ellipse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494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278624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Approved + Dispatch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986016" y="382219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approves COA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status -&gt; VERIFIED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recorded on SO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complete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788152" y="1773936"/>
            <a:ext cx="0" cy="274320"/>
          </a:xfrm>
          <a:prstGeom prst="line">
            <a:avLst/>
          </a:prstGeom>
          <a:noFill/>
          <a:ln w="19050">
            <a:solidFill>
              <a:srgbClr val="4C1D95"/>
            </a:solidFill>
            <a:prstDash val="sysDash"/>
          </a:ln>
        </p:spPr>
      </p:sp>
      <p:sp>
        <p:nvSpPr>
          <p:cNvPr id="89" name="Text 87"/>
          <p:cNvSpPr/>
          <p:nvPr/>
        </p:nvSpPr>
        <p:spPr>
          <a:xfrm>
            <a:off x="5724144" y="19019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</a:rPr>
              <a:t>v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776472" y="3191256"/>
            <a:ext cx="0" cy="274320"/>
          </a:xfrm>
          <a:prstGeom prst="line">
            <a:avLst/>
          </a:prstGeom>
          <a:noFill/>
          <a:ln w="19050">
            <a:solidFill>
              <a:srgbClr val="92400E"/>
            </a:solidFill>
            <a:prstDash val="sysDash"/>
          </a:ln>
        </p:spPr>
      </p:sp>
      <p:sp>
        <p:nvSpPr>
          <p:cNvPr id="91" name="Text 89"/>
          <p:cNvSpPr/>
          <p:nvPr/>
        </p:nvSpPr>
        <p:spPr>
          <a:xfrm>
            <a:off x="3712464" y="331927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v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41248" y="4754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517904" y="4791456"/>
            <a:ext cx="164592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19072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Planning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273552" y="4791456"/>
            <a:ext cx="164592" cy="1280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74720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/ BOM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029200" y="4791456"/>
            <a:ext cx="164592" cy="12801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30368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/ Production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784848" y="4791456"/>
            <a:ext cx="164592" cy="128016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86016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/ Dispatch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A4A22"/>
          </a:solidFill>
          <a:ln w="12700">
            <a:solidFill>
              <a:srgbClr val="1A4A2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 Phyto Pharma ERP — System Architecture</dc:title>
  <dc:subject>PptxGenJS Presentation</dc:subject>
  <dc:creator>SOM ERP</dc:creator>
  <cp:lastModifiedBy>SOM ERP</cp:lastModifiedBy>
  <cp:revision>1</cp:revision>
  <dcterms:created xsi:type="dcterms:W3CDTF">2026-06-03T12:02:57Z</dcterms:created>
  <dcterms:modified xsi:type="dcterms:W3CDTF">2026-06-03T12:02:57Z</dcterms:modified>
</cp:coreProperties>
</file>